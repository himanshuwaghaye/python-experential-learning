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 snapToObjects="1">
      <p:cViewPr>
        <p:scale>
          <a:sx n="87" d="100"/>
          <a:sy n="87" d="100"/>
        </p:scale>
        <p:origin x="1358" y="-1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91919"/>
                </a:solidFill>
                <a:latin typeface="Times New Roman"/>
              </a:defRPr>
            </a:pPr>
            <a:r>
              <a:t>Experiential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32688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91919"/>
                </a:solidFill>
                <a:latin typeface="Times New Roman"/>
              </a:defRPr>
            </a:pPr>
            <a:r>
              <a:t>Project Assessment-I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latin typeface="Times New Roman"/>
              </a:defRPr>
            </a:pPr>
            <a:r>
              <a:t>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64792"/>
            <a:ext cx="8321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33A91"/>
                </a:solidFill>
                <a:latin typeface="Times New Roman"/>
              </a:defRPr>
            </a:pPr>
            <a:r>
              <a:t>“ English to Hindi Translator 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3A91"/>
                </a:solidFill>
                <a:latin typeface="Times New Roman"/>
              </a:defRPr>
            </a:pPr>
            <a:r>
              <a:t>under the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33A91"/>
                </a:solidFill>
                <a:latin typeface="Times New Roman"/>
              </a:defRPr>
            </a:pPr>
            <a:r>
              <a:t>Python Programming Language (N-PCCCM304P)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154680"/>
            <a:ext cx="28803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Presented By</a:t>
            </a:r>
          </a:p>
          <a:p>
            <a:pPr>
              <a:defRPr sz="1300" b="1">
                <a:latin typeface="Times New Roman"/>
              </a:defRPr>
            </a:pPr>
            <a:r>
              <a:t>HIMANSHU SHRIDHAR WAGHAYE</a:t>
            </a:r>
          </a:p>
          <a:p>
            <a:pPr>
              <a:defRPr sz="1300" b="1">
                <a:latin typeface="Times New Roman"/>
              </a:defRPr>
            </a:pPr>
            <a:r>
              <a:t>USN: CM25019</a:t>
            </a:r>
          </a:p>
        </p:txBody>
      </p:sp>
      <p:pic>
        <p:nvPicPr>
          <p:cNvPr id="12" name="Picture 11" descr="img_p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3063240"/>
            <a:ext cx="1234440" cy="1417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83475" y="3154680"/>
            <a:ext cx="2131930" cy="12464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Times New Roman"/>
              </a:defRPr>
            </a:pPr>
            <a:r>
              <a:rPr dirty="0"/>
              <a:t>Under the Guidance</a:t>
            </a:r>
          </a:p>
          <a:p>
            <a:pPr algn="ctr">
              <a:defRPr sz="1200" b="1">
                <a:latin typeface="Times New Roman"/>
              </a:defRPr>
            </a:pPr>
            <a:r>
              <a:rPr dirty="0"/>
              <a:t>of</a:t>
            </a:r>
          </a:p>
          <a:p>
            <a:r>
              <a:rPr dirty="0"/>
              <a:t>Mrs. </a:t>
            </a:r>
            <a:r>
              <a:rPr lang="en-IN" dirty="0"/>
              <a:t>Suchita </a:t>
            </a:r>
            <a:r>
              <a:rPr lang="en-IN" dirty="0" err="1"/>
              <a:t>Mesakar</a:t>
            </a:r>
            <a:endParaRPr lang="en-IN" dirty="0"/>
          </a:p>
          <a:p>
            <a:br>
              <a:rPr lang="en-IN" dirty="0"/>
            </a:b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280160" y="461772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latin typeface="Times New Roman"/>
              </a:defRPr>
            </a:pPr>
            <a:r>
              <a:t>Session: 2026-27 (ODD)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010912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latin typeface="Times New Roman"/>
              </a:defRPr>
            </a:pPr>
            <a:r>
              <a:t>Department of CSE(AI&amp;ML)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9496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latin typeface="Times New Roman"/>
              </a:defRPr>
            </a:pPr>
            <a:r>
              <a:t>S. B. JAIN INSTITUTE OF TECHNOLOGY MANAGEMENT AND</a:t>
            </a:r>
            <a:br/>
            <a:r>
              <a:t>RESEARCH, NAGPUR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Contents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1430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10312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41448" y="1225296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15087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Understanding the translation problem and expected input/output.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2161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8288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03120" y="19019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41448" y="1911095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21945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Goals and learning outcomes of the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19019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25146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103120" y="25877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41448" y="2596896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28803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Step-by-step logic and approach to translate English 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5877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32004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103120" y="32735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41448" y="3282696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Flowchart and Python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21408" y="35661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Visual representation and Python concepts used.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2735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38862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103120" y="39593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41448" y="3968496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Pseudocode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21408" y="42519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Language-independent logic of the translator.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39593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45720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103120" y="4645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41448" y="4654296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Working / Sample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21408" y="49377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Example input, processing and Hindi output.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46451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11680" y="5257800"/>
            <a:ext cx="530352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103120" y="53309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41448" y="5340096"/>
            <a:ext cx="4736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GitHub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21408" y="5623560"/>
            <a:ext cx="508406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69">
                <a:solidFill>
                  <a:srgbClr val="191919"/>
                </a:solidFill>
                <a:latin typeface="Times New Roman"/>
              </a:defRPr>
            </a:pPr>
            <a:r>
              <a:t>Repository creation, uploading code and meaningful commits.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533095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76F97"/>
                </a:solidFill>
                <a:latin typeface="Times New Roman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4572000" cy="1874519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225296"/>
            <a:ext cx="4005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Project 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508760"/>
            <a:ext cx="4352544" cy="1435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191919"/>
                </a:solidFill>
                <a:latin typeface="Times New Roman"/>
              </a:defRPr>
            </a:pPr>
            <a:r>
              <a:t>The project aims to create a Python application that accepts English words, sentences or short paragraphs and translates them into Hindi using a predefined dictionary or a translation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246120"/>
            <a:ext cx="4572000" cy="141732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02920" y="331927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3328415"/>
            <a:ext cx="4005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3611879"/>
            <a:ext cx="4352544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191919"/>
                </a:solidFill>
                <a:latin typeface="Times New Roman"/>
              </a:defRPr>
            </a:pPr>
            <a:r>
              <a:t>English text entered by the user.</a:t>
            </a:r>
            <a:br/>
            <a:r>
              <a:t>Example: “Good morning, how are you?”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1143000"/>
            <a:ext cx="3429000" cy="141732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30352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41848" y="1225296"/>
            <a:ext cx="2862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1508760"/>
            <a:ext cx="3209544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191919"/>
                </a:solidFill>
                <a:latin typeface="Times New Roman"/>
              </a:defRPr>
            </a:pPr>
            <a:r>
              <a:t>Validate input → identify translation method → process text → handle errors.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2788920"/>
            <a:ext cx="3429000" cy="1874519"/>
          </a:xfrm>
          <a:prstGeom prst="roundRect">
            <a:avLst/>
          </a:prstGeom>
          <a:solidFill>
            <a:srgbClr val="EAF7EE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303520" y="286207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41848" y="2871215"/>
            <a:ext cx="2862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3154679"/>
            <a:ext cx="3209544" cy="1435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191919"/>
                </a:solidFill>
                <a:latin typeface="Times New Roman"/>
              </a:defRPr>
            </a:pPr>
            <a:r>
              <a:t>Hindi translation is displayed clearly and accurately.</a:t>
            </a:r>
            <a:br/>
            <a:br/>
            <a:r>
              <a:t>Example:</a:t>
            </a:r>
            <a:br/>
            <a:r>
              <a:t>“सुप्रभात, आप कैसे हैं?”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4892040"/>
            <a:ext cx="3429000" cy="68580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303520" y="496519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41848" y="4974336"/>
            <a:ext cx="28620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Key Requirement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5257800"/>
            <a:ext cx="3209544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191919"/>
                </a:solidFill>
                <a:latin typeface="Times New Roman"/>
              </a:defRPr>
            </a:pPr>
            <a:r>
              <a:t>Simple, user-friendly interface + Python concepts + API usage + exception handling.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143000"/>
            <a:ext cx="4709160" cy="658368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88620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24528" y="1225296"/>
            <a:ext cx="4142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4488" y="1508760"/>
            <a:ext cx="44897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191919"/>
                </a:solidFill>
                <a:latin typeface="Times New Roman"/>
              </a:defRPr>
            </a:pPr>
            <a:r>
              <a:t>Learn how a translator accepts source text and produces target-language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984248"/>
            <a:ext cx="4709160" cy="658368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886200" y="2057400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24528" y="2066543"/>
            <a:ext cx="4142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Translate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8" y="2350008"/>
            <a:ext cx="44897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191919"/>
                </a:solidFill>
                <a:latin typeface="Times New Roman"/>
              </a:defRPr>
            </a:pPr>
            <a:r>
              <a:t>Convert English words, sentences or paragraphs into Hindi.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825496"/>
            <a:ext cx="4709160" cy="658368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886200" y="2898648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24528" y="2907791"/>
            <a:ext cx="4142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Apply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4488" y="3191256"/>
            <a:ext cx="44897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191919"/>
                </a:solidFill>
                <a:latin typeface="Times New Roman"/>
              </a:defRPr>
            </a:pPr>
            <a:r>
              <a:t>Use strings, dictionaries, functions, conditions and loops.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666744"/>
            <a:ext cx="4709160" cy="658368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886200" y="3739896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24528" y="3749039"/>
            <a:ext cx="4142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91919"/>
                </a:solidFill>
                <a:latin typeface="Times New Roman"/>
              </a:defRPr>
            </a:pPr>
            <a:r>
              <a:t>Use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4488" y="4032504"/>
            <a:ext cx="448970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80">
                <a:solidFill>
                  <a:srgbClr val="191919"/>
                </a:solidFill>
                <a:latin typeface="Times New Roman"/>
              </a:defRPr>
            </a:pPr>
            <a:r>
              <a:t>Understand how a translation API can extend the application.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143000"/>
            <a:ext cx="3063240" cy="4709160"/>
          </a:xfrm>
          <a:prstGeom prst="rect">
            <a:avLst/>
          </a:prstGeom>
          <a:solidFill>
            <a:srgbClr val="E2F2FA"/>
          </a:solidFill>
          <a:ln>
            <a:solidFill>
              <a:srgbClr val="BE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43000" y="1828800"/>
            <a:ext cx="16002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1993392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76F97"/>
                </a:solidFill>
                <a:latin typeface="Times New Roman"/>
              </a:defRPr>
            </a:pPr>
            <a:r>
              <a:t>EN</a:t>
            </a:r>
          </a:p>
        </p:txBody>
      </p:sp>
      <p:sp>
        <p:nvSpPr>
          <p:cNvPr id="25" name="Oval 24"/>
          <p:cNvSpPr/>
          <p:nvPr/>
        </p:nvSpPr>
        <p:spPr>
          <a:xfrm>
            <a:off x="1143000" y="2743200"/>
            <a:ext cx="16002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2907792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76F97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27" name="Oval 26"/>
          <p:cNvSpPr/>
          <p:nvPr/>
        </p:nvSpPr>
        <p:spPr>
          <a:xfrm>
            <a:off x="1143000" y="3657600"/>
            <a:ext cx="16002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3000" y="3822191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76F97"/>
                </a:solidFill>
                <a:latin typeface="Times New Roman"/>
              </a:defRPr>
            </a:pPr>
            <a:r>
              <a:t>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2423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76F97"/>
                </a:solidFill>
                <a:latin typeface="Times New Roman"/>
              </a:defRPr>
            </a:pPr>
            <a:r>
              <a:t>English → Translation → Hindi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Algorithm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143000"/>
            <a:ext cx="457200" cy="457200"/>
          </a:xfrm>
          <a:prstGeom prst="ellipse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2529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Times New Roman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124712"/>
            <a:ext cx="722376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88720" y="1197864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27048" y="1207008"/>
            <a:ext cx="66568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919"/>
                </a:solidFill>
                <a:latin typeface="Times New Roman"/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1490472"/>
            <a:ext cx="700430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Take English text as input.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1892807"/>
            <a:ext cx="457200" cy="457200"/>
          </a:xfrm>
          <a:prstGeom prst="ellipse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975103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Times New Roman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1874519"/>
            <a:ext cx="722376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8720" y="194767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27048" y="1956815"/>
            <a:ext cx="66568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919"/>
                </a:solidFill>
                <a:latin typeface="Times New Roman"/>
              </a:defRPr>
            </a:pPr>
            <a: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2240279"/>
            <a:ext cx="700430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Check whether the input is empty or valid.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2642615"/>
            <a:ext cx="457200" cy="457200"/>
          </a:xfrm>
          <a:prstGeom prst="ellipse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724911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Times New Roman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2624327"/>
            <a:ext cx="722376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88720" y="2697479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27048" y="2706623"/>
            <a:ext cx="66568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919"/>
                </a:solidFill>
                <a:latin typeface="Times New Roman"/>
              </a:defRPr>
            </a:pPr>
            <a: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7" y="2990087"/>
            <a:ext cx="700430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Select a predefined dictionary or translation API.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3392424"/>
            <a:ext cx="457200" cy="457200"/>
          </a:xfrm>
          <a:prstGeom prst="ellipse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34747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Times New Roman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374136"/>
            <a:ext cx="722376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88720" y="3447288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27048" y="3456432"/>
            <a:ext cx="66568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919"/>
                </a:solidFill>
                <a:latin typeface="Times New Roman"/>
              </a:defRPr>
            </a:pPr>
            <a: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7" y="3739896"/>
            <a:ext cx="700430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Process the English text and obtain Hindi translation.</a:t>
            </a:r>
          </a:p>
        </p:txBody>
      </p:sp>
      <p:sp>
        <p:nvSpPr>
          <p:cNvPr id="30" name="Oval 29"/>
          <p:cNvSpPr/>
          <p:nvPr/>
        </p:nvSpPr>
        <p:spPr>
          <a:xfrm>
            <a:off x="502920" y="4142231"/>
            <a:ext cx="457200" cy="457200"/>
          </a:xfrm>
          <a:prstGeom prst="ellipse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4224527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Times New Roman"/>
              </a:defRPr>
            </a:pPr>
            <a: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4123944"/>
            <a:ext cx="722376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88720" y="4197096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27048" y="4206240"/>
            <a:ext cx="66568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919"/>
                </a:solidFill>
                <a:latin typeface="Times New Roman"/>
              </a:defRPr>
            </a:pPr>
            <a: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7" y="4489704"/>
            <a:ext cx="700430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Handle missing translation, network or API errors.</a:t>
            </a:r>
          </a:p>
        </p:txBody>
      </p:sp>
      <p:sp>
        <p:nvSpPr>
          <p:cNvPr id="36" name="Oval 35"/>
          <p:cNvSpPr/>
          <p:nvPr/>
        </p:nvSpPr>
        <p:spPr>
          <a:xfrm>
            <a:off x="502920" y="4892040"/>
            <a:ext cx="457200" cy="457200"/>
          </a:xfrm>
          <a:prstGeom prst="ellipse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497433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Times New Roman"/>
              </a:defRPr>
            </a:pPr>
            <a: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873752"/>
            <a:ext cx="7223760" cy="530352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88720" y="4946904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27048" y="4956048"/>
            <a:ext cx="66568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91919"/>
                </a:solidFill>
                <a:latin typeface="Times New Roman"/>
              </a:defRPr>
            </a:pPr>
            <a:r>
              <a:t>Step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7007" y="5239512"/>
            <a:ext cx="7004304" cy="91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Display the original text and final Hindi output.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57400" y="5715000"/>
            <a:ext cx="5029200" cy="4114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148840" y="5788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87168" y="5797296"/>
            <a:ext cx="44622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1919"/>
                </a:solidFill>
                <a:latin typeface="Times New Roman"/>
              </a:defRPr>
            </a:pPr>
            <a:r>
              <a:t>Main Idea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67128" y="6080760"/>
            <a:ext cx="4809744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191919"/>
                </a:solidFill>
                <a:latin typeface="Times New Roman"/>
              </a:defRPr>
            </a:pPr>
            <a:r>
              <a:t>INPUT → PROCESS → TRANSLATE →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Flowchart and Python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051560"/>
            <a:ext cx="1554480" cy="457200"/>
          </a:xfrm>
          <a:prstGeom prst="roundRect">
            <a:avLst/>
          </a:prstGeom>
          <a:solidFill>
            <a:srgbClr val="E2F2FA"/>
          </a:solidFill>
          <a:ln>
            <a:solidFill>
              <a:srgbClr val="23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94760" y="116128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737360"/>
            <a:ext cx="3474720" cy="457200"/>
          </a:xfrm>
          <a:prstGeom prst="roundRect">
            <a:avLst/>
          </a:prstGeom>
          <a:solidFill>
            <a:srgbClr val="E2F2FA"/>
          </a:solidFill>
          <a:ln>
            <a:solidFill>
              <a:srgbClr val="57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34640" y="184708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Enter English 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1508760"/>
            <a:ext cx="0" cy="22860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2423160"/>
            <a:ext cx="3474720" cy="457200"/>
          </a:xfrm>
          <a:prstGeom prst="roundRect">
            <a:avLst/>
          </a:prstGeom>
          <a:solidFill>
            <a:srgbClr val="EEF8F2"/>
          </a:solidFill>
          <a:ln>
            <a:solidFill>
              <a:srgbClr val="B4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4640" y="253288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Is input empty?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2194560"/>
            <a:ext cx="0" cy="22860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34640" y="3108960"/>
            <a:ext cx="3474720" cy="457200"/>
          </a:xfrm>
          <a:prstGeom prst="roundRect">
            <a:avLst/>
          </a:prstGeom>
          <a:solidFill>
            <a:srgbClr val="E2F2FA"/>
          </a:solidFill>
          <a:ln>
            <a:solidFill>
              <a:srgbClr val="AA9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321868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Choose Dictionary / API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2880360"/>
            <a:ext cx="0" cy="22860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34640" y="3794760"/>
            <a:ext cx="3474720" cy="457200"/>
          </a:xfrm>
          <a:prstGeom prst="roundRect">
            <a:avLst/>
          </a:prstGeom>
          <a:solidFill>
            <a:srgbClr val="EEF8F2"/>
          </a:solidFill>
          <a:ln>
            <a:solidFill>
              <a:srgbClr val="5C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34640" y="390448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Translate Text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566160"/>
            <a:ext cx="0" cy="22860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34640" y="4480560"/>
            <a:ext cx="3474720" cy="457200"/>
          </a:xfrm>
          <a:prstGeom prst="roundRect">
            <a:avLst/>
          </a:prstGeom>
          <a:solidFill>
            <a:srgbClr val="EEF8F2"/>
          </a:solidFill>
          <a:ln>
            <a:solidFill>
              <a:srgbClr val="5C9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34640" y="459028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Display Hindi Output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0" y="4251960"/>
            <a:ext cx="0" cy="22860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794760" y="5166360"/>
            <a:ext cx="1554480" cy="457200"/>
          </a:xfrm>
          <a:prstGeom prst="roundRect">
            <a:avLst/>
          </a:prstGeom>
          <a:solidFill>
            <a:srgbClr val="E2F2FA"/>
          </a:solidFill>
          <a:ln>
            <a:solidFill>
              <a:srgbClr val="23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94760" y="527608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latin typeface="Times New Roman"/>
              </a:defRPr>
            </a:pPr>
            <a:r>
              <a:t>END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0" y="4937760"/>
            <a:ext cx="0" cy="22860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2920" y="1143000"/>
            <a:ext cx="2423160" cy="1874519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9436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1225296"/>
            <a:ext cx="185623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  <a:latin typeface="Times New Roman"/>
              </a:defRPr>
            </a:pPr>
            <a:r>
              <a:t>Python Concepts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08760"/>
            <a:ext cx="2203704" cy="1435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91919"/>
                </a:solidFill>
                <a:latin typeface="Times New Roman"/>
              </a:defRPr>
            </a:pPr>
            <a:r>
              <a:t>Strings</a:t>
            </a:r>
            <a:br/>
            <a:r>
              <a:t>Dictionaries</a:t>
            </a:r>
            <a:br/>
            <a:r>
              <a:t>Functions</a:t>
            </a:r>
            <a:br/>
            <a:r>
              <a:t>If–elif conditions</a:t>
            </a:r>
            <a:br/>
            <a:r>
              <a:t>Loops</a:t>
            </a:r>
            <a:br/>
            <a:r>
              <a:t>input() / print()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143000"/>
            <a:ext cx="2240280" cy="1874519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9224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30568" y="1225296"/>
            <a:ext cx="1673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  <a:latin typeface="Times New Roman"/>
              </a:defRPr>
            </a:pPr>
            <a:r>
              <a:t>Error Handling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1508760"/>
            <a:ext cx="2020824" cy="1435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191919"/>
                </a:solidFill>
                <a:latin typeface="Times New Roman"/>
              </a:defRPr>
            </a:pPr>
            <a:r>
              <a:t>Empty input</a:t>
            </a:r>
            <a:br/>
            <a:r>
              <a:t>Unknown word</a:t>
            </a:r>
            <a:br/>
            <a:r>
              <a:t>API failure</a:t>
            </a:r>
            <a:br/>
            <a:r>
              <a:t>Network problem</a:t>
            </a:r>
            <a:br/>
            <a:r>
              <a:t>Invalid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Pseudocode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394960" cy="484632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5120640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91919"/>
                </a:solidFill>
                <a:latin typeface="Consolas"/>
              </a:defRPr>
            </a:pPr>
            <a:r>
              <a:t>START</a:t>
            </a:r>
            <a:br/>
            <a:r>
              <a:t>INPUT english_text</a:t>
            </a:r>
            <a:br/>
            <a:br/>
            <a:r>
              <a:t>IF english_text is empty</a:t>
            </a:r>
            <a:br/>
            <a:r>
              <a:t>    DISPLAY "Please enter text"</a:t>
            </a:r>
            <a:br/>
            <a:r>
              <a:t>ELSE</a:t>
            </a:r>
            <a:br/>
            <a:r>
              <a:t>    SELECT dictionary or API</a:t>
            </a:r>
            <a:br/>
            <a:br/>
            <a:r>
              <a:t>    TRANSLATE english_text</a:t>
            </a:r>
            <a:br/>
            <a:br/>
            <a:r>
              <a:t>    IF translation fails</a:t>
            </a:r>
            <a:br/>
            <a:r>
              <a:t>        DISPLAY error message</a:t>
            </a:r>
            <a:br/>
            <a:r>
              <a:t>    ELSE</a:t>
            </a:r>
            <a:br/>
            <a:r>
              <a:t>        DISPLAY English text</a:t>
            </a:r>
            <a:br/>
            <a:r>
              <a:t>        DISPLAY Hindi translation</a:t>
            </a:r>
            <a:br/>
            <a:br/>
            <a:r>
              <a:t>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2331720" cy="105156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263640" y="139903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1968" y="1408176"/>
            <a:ext cx="17647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1691640"/>
            <a:ext cx="2112263" cy="612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91919"/>
                </a:solidFill>
                <a:latin typeface="Times New Roman"/>
              </a:defRPr>
            </a:pPr>
            <a:r>
              <a:t>English: Good morning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97480"/>
            <a:ext cx="2331720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63640" y="277063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01968" y="2779776"/>
            <a:ext cx="17647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3063240"/>
            <a:ext cx="211226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191919"/>
                </a:solidFill>
                <a:latin typeface="Times New Roman"/>
              </a:defRPr>
            </a:pPr>
            <a:r>
              <a:t>Find or request the corresponding Hindi translation.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251960"/>
            <a:ext cx="2331720" cy="1051560"/>
          </a:xfrm>
          <a:prstGeom prst="roundRect">
            <a:avLst/>
          </a:prstGeom>
          <a:solidFill>
            <a:srgbClr val="EAF7EE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263640" y="432511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4334256"/>
            <a:ext cx="17647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4617720"/>
            <a:ext cx="2112263" cy="612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191919"/>
                </a:solidFill>
                <a:latin typeface="Times New Roman"/>
              </a:defRPr>
            </a:pPr>
            <a:r>
              <a:t>Hindi: सुप्रभात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Understanding of Python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3977639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2252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Strings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508760"/>
            <a:ext cx="375818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91919"/>
                </a:solidFill>
                <a:latin typeface="Times New Roman"/>
              </a:defRPr>
            </a:pPr>
            <a:r>
              <a:t>Used to store and manipulate the English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143000"/>
            <a:ext cx="3977639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937759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76088" y="12252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Dictionary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508760"/>
            <a:ext cx="375818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91919"/>
                </a:solidFill>
                <a:latin typeface="Times New Roman"/>
              </a:defRPr>
            </a:pPr>
            <a:r>
              <a:t>Stores fixed word mappings such as {"hello": "नमस्ते"}.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3977639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94360" y="28163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8254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108960"/>
            <a:ext cx="375818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91919"/>
                </a:solidFill>
                <a:latin typeface="Times New Roman"/>
              </a:defRPr>
            </a:pPr>
            <a:r>
              <a:t>Separate input, translation and output into reusable blocks.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743200"/>
            <a:ext cx="3977639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37759" y="28163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76088" y="28254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If–Elif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3108960"/>
            <a:ext cx="375818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91919"/>
                </a:solidFill>
                <a:latin typeface="Times New Roman"/>
              </a:defRPr>
            </a:pPr>
            <a:r>
              <a:t>Checks empty input, method selection and result conditions.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43400"/>
            <a:ext cx="3977639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4360" y="44165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4256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Loops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709160"/>
            <a:ext cx="375818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91919"/>
                </a:solidFill>
                <a:latin typeface="Times New Roman"/>
              </a:defRPr>
            </a:pPr>
            <a:r>
              <a:t>Can process words one by one for dictionary-based translation.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4343400"/>
            <a:ext cx="3977639" cy="12344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937759" y="44165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76088" y="44256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Exception Handling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4709160"/>
            <a:ext cx="3758183" cy="795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>
                <a:solidFill>
                  <a:srgbClr val="191919"/>
                </a:solidFill>
                <a:latin typeface="Times New Roman"/>
              </a:defRPr>
            </a:pPr>
            <a:r>
              <a:t>try/except prevents API or network errors from crashing the program.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Working / Sample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166360" cy="4526280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4892040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91919"/>
                </a:solidFill>
                <a:latin typeface="Consolas"/>
              </a:defRPr>
            </a:pPr>
            <a:r>
              <a:t>translations = {</a:t>
            </a:r>
            <a:br/>
            <a:r>
              <a:t>    "hello": "नमस्ते",</a:t>
            </a:r>
            <a:br/>
            <a:r>
              <a:t>    "good morning": "सुप्रभात",</a:t>
            </a:r>
            <a:br/>
            <a:r>
              <a:t>    "thank you": "धन्यवाद",</a:t>
            </a:r>
            <a:br/>
            <a:r>
              <a:t>    "book": "किताब"</a:t>
            </a:r>
            <a:br/>
            <a:r>
              <a:t>}</a:t>
            </a:r>
            <a:br/>
            <a:br/>
            <a:r>
              <a:t>text = input("Enter English text: ")</a:t>
            </a:r>
            <a:br/>
            <a:r>
              <a:t>text = text.strip().lower()</a:t>
            </a:r>
            <a:br/>
            <a:br/>
            <a:r>
              <a:t>if not text:</a:t>
            </a:r>
            <a:br/>
            <a:r>
              <a:t>    print("Please enter some text.")</a:t>
            </a:r>
            <a:br/>
            <a:r>
              <a:t>elif text in translations:</a:t>
            </a:r>
            <a:br/>
            <a:r>
              <a:t>    print("Hindi:", translations[text])</a:t>
            </a:r>
            <a:br/>
            <a:r>
              <a:t>else:</a:t>
            </a:r>
            <a:br/>
            <a:r>
              <a:t>    print("Translation not found.")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234440"/>
            <a:ext cx="2423160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72200" y="130759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1316736"/>
            <a:ext cx="185623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  <a:latin typeface="Times New Roman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1600200"/>
            <a:ext cx="2203704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191919"/>
                </a:solidFill>
                <a:latin typeface="Times New Roman"/>
              </a:defRPr>
            </a:pPr>
            <a:r>
              <a:t>Good morning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69480" y="2331720"/>
            <a:ext cx="0" cy="41148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80760" y="2788920"/>
            <a:ext cx="2423160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172200" y="286207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2871215"/>
            <a:ext cx="185623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  <a:latin typeface="Times New Roman"/>
              </a:defRPr>
            </a:pPr>
            <a:r>
              <a:t>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154679"/>
            <a:ext cx="2203704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191919"/>
                </a:solidFill>
                <a:latin typeface="Times New Roman"/>
              </a:defRPr>
            </a:pPr>
            <a:r>
              <a:t>Dictionary lookup or API translation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886200"/>
            <a:ext cx="0" cy="411480"/>
          </a:xfrm>
          <a:prstGeom prst="line">
            <a:avLst/>
          </a:prstGeom>
          <a:ln w="16510">
            <a:solidFill>
              <a:srgbClr val="AA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080760" y="4343400"/>
            <a:ext cx="2423160" cy="1097280"/>
          </a:xfrm>
          <a:prstGeom prst="roundRect">
            <a:avLst/>
          </a:prstGeom>
          <a:solidFill>
            <a:srgbClr val="EAF7EE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172200" y="44165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4425696"/>
            <a:ext cx="185623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1919"/>
                </a:solidFill>
                <a:latin typeface="Times New Roman"/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709160"/>
            <a:ext cx="2203704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191919"/>
                </a:solidFill>
                <a:latin typeface="Times New Roman"/>
              </a:defRPr>
            </a:pPr>
            <a:r>
              <a:t>सुप्रभात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GitHub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3977639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2252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Create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508760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Sign up or use an existing GitHub account.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143000"/>
            <a:ext cx="3977639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937759" y="12161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76088" y="1225296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Create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508760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Create a repository named english-to-hindi-translator.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60320"/>
            <a:ext cx="3977639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94360" y="263347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642615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Upload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926079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Push the Python files and required project files.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560320"/>
            <a:ext cx="3977639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37759" y="263347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76088" y="2642615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Add README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2926079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Document the problem, features, setup and example output.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977639"/>
            <a:ext cx="3977639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4360" y="4050791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4059935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Meaningful Commits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343400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Use clear commit messages while developing.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3977639"/>
            <a:ext cx="3977639" cy="109728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937759" y="4050791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76088" y="4059935"/>
            <a:ext cx="34107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1919"/>
                </a:solidFill>
                <a:latin typeface="Times New Roman"/>
              </a:defRPr>
            </a:pPr>
            <a:r>
              <a:t>Repository Link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4343400"/>
            <a:ext cx="3758183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Copy the repository URL for submission.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65960" y="5486400"/>
            <a:ext cx="5212080" cy="50292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057400" y="555955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95728" y="5568696"/>
            <a:ext cx="4645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91919"/>
                </a:solidFill>
                <a:latin typeface="Times New Roman"/>
              </a:defRPr>
            </a:pPr>
            <a:r>
              <a:t>Suggested Repository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8" y="5852160"/>
            <a:ext cx="4992624" cy="64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191919"/>
                </a:solidFill>
                <a:latin typeface="Times New Roman"/>
              </a:defRPr>
            </a:pPr>
            <a:r>
              <a:t>english-to-hindi-translator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10896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76F97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560320" cy="342900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130759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316736"/>
            <a:ext cx="19933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Learning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600200"/>
            <a:ext cx="2340863" cy="2990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191919"/>
                </a:solidFill>
                <a:latin typeface="Times New Roman"/>
              </a:defRPr>
            </a:pPr>
            <a:r>
              <a:t>The project connects Python fundamentals with a practical language-processing problem and demonstrates how text can be accepted, processed and translated.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234440"/>
            <a:ext cx="2560320" cy="3429000"/>
          </a:xfrm>
          <a:prstGeom prst="roundRect">
            <a:avLst/>
          </a:prstGeom>
          <a:solidFill>
            <a:srgbClr val="EAF7EE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83280" y="130759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1316736"/>
            <a:ext cx="19933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Practical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600200"/>
            <a:ext cx="2340863" cy="2990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191919"/>
                </a:solidFill>
                <a:latin typeface="Times New Roman"/>
              </a:defRPr>
            </a:pPr>
            <a:r>
              <a:t>An English-to-Hindi translator can help users understand common English words and sentences in Hindi.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234440"/>
            <a:ext cx="2560320" cy="342900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172200" y="130759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1316736"/>
            <a:ext cx="199339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1919"/>
                </a:solidFill>
                <a:latin typeface="Times New Roman"/>
              </a:defRPr>
            </a:pPr>
            <a:r>
              <a:t>Future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1600200"/>
            <a:ext cx="2340863" cy="2990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191919"/>
                </a:solidFill>
                <a:latin typeface="Times New Roman"/>
              </a:defRPr>
            </a:pPr>
            <a:r>
              <a:t>GUI using Tkinter</a:t>
            </a:r>
            <a:br/>
            <a:r>
              <a:t>Voice input/output</a:t>
            </a:r>
            <a:br/>
            <a:r>
              <a:t>More Indian languages</a:t>
            </a:r>
            <a:br/>
            <a:r>
              <a:t>Translation history</a:t>
            </a:r>
            <a:br/>
            <a:r>
              <a:t>Larger API support</a:t>
            </a:r>
            <a:br/>
            <a:r>
              <a:t>Improved error handling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4983480"/>
            <a:ext cx="5212080" cy="777240"/>
          </a:xfrm>
          <a:prstGeom prst="roundRect">
            <a:avLst/>
          </a:prstGeom>
          <a:solidFill>
            <a:srgbClr val="E2F2FA"/>
          </a:solidFill>
          <a:ln w="10160"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57400" y="5056632"/>
            <a:ext cx="256032" cy="256032"/>
          </a:xfrm>
          <a:prstGeom prst="ellipse">
            <a:avLst/>
          </a:prstGeom>
          <a:solidFill>
            <a:srgbClr val="AA9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95728" y="5065776"/>
            <a:ext cx="46451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Times New Roman"/>
              </a:defRPr>
            </a:pPr>
            <a:r>
              <a:t>Final 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5688" y="5349240"/>
            <a:ext cx="4992624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191919"/>
                </a:solidFill>
                <a:latin typeface="Times New Roman"/>
              </a:defRPr>
            </a:pPr>
            <a:r>
              <a:t>A simple Python project can be extended into a useful multilingual application.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146304"/>
            <a:ext cx="8814816" cy="6473952"/>
          </a:xfrm>
          <a:prstGeom prst="rect">
            <a:avLst/>
          </a:prstGeom>
          <a:noFill/>
          <a:ln w="10160">
            <a:solidFill>
              <a:srgbClr val="AABE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391656"/>
            <a:ext cx="8814816" cy="256032"/>
          </a:xfrm>
          <a:prstGeom prst="rect">
            <a:avLst/>
          </a:prstGeom>
          <a:solidFill>
            <a:srgbClr val="8E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09944"/>
            <a:ext cx="8138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F5F5F"/>
                </a:solidFill>
                <a:latin typeface="Times New Roman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33A91"/>
                </a:solidFill>
                <a:latin typeface="Times New Roman"/>
              </a:defRPr>
            </a:pPr>
            <a:r>
              <a:t>“Thank You”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88920"/>
            <a:ext cx="6949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576F97"/>
                </a:solidFill>
                <a:latin typeface="Times New Roman"/>
              </a:defRPr>
            </a:pPr>
            <a:r>
              <a:t>English to Hindi Translator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latin typeface="Times New Roman"/>
              </a:defRPr>
            </a:pPr>
            <a:r>
              <a:t>HIMANSHU SHRIDHAR WAGHAYE</a:t>
            </a:r>
            <a:br/>
            <a:r>
              <a:t>CM25019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1011</Words>
  <Application>Microsoft Office PowerPoint</Application>
  <PresentationFormat>On-screen Show (4:3)</PresentationFormat>
  <Paragraphs>163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Himanshu Waghaye</cp:lastModifiedBy>
  <cp:revision>2</cp:revision>
  <dcterms:created xsi:type="dcterms:W3CDTF">2013-01-27T09:14:16Z</dcterms:created>
  <dcterms:modified xsi:type="dcterms:W3CDTF">2026-08-18T16:29:59Z</dcterms:modified>
  <cp:category/>
</cp:coreProperties>
</file>